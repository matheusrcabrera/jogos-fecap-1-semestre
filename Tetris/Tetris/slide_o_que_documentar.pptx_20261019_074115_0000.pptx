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ptos Bold" charset="1" panose="020B0004020202020204"/>
      <p:regular r:id="rId14"/>
    </p:embeddedFont>
    <p:embeddedFont>
      <p:font typeface="Aptos" charset="1" panose="020B0004020202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Documentação criação do jogo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2701" y="2529916"/>
            <a:ext cx="14992393" cy="1556461"/>
            <a:chOff x="0" y="0"/>
            <a:chExt cx="19989857" cy="20752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989984" cy="2075307"/>
            </a:xfrm>
            <a:custGeom>
              <a:avLst/>
              <a:gdLst/>
              <a:ahLst/>
              <a:cxnLst/>
              <a:rect r="r" b="b" t="t" l="l"/>
              <a:pathLst>
                <a:path h="2075307" w="19989984">
                  <a:moveTo>
                    <a:pt x="0" y="345948"/>
                  </a:moveTo>
                  <a:cubicBezTo>
                    <a:pt x="0" y="154813"/>
                    <a:pt x="288354" y="0"/>
                    <a:pt x="644361" y="0"/>
                  </a:cubicBezTo>
                  <a:lnTo>
                    <a:pt x="19345732" y="0"/>
                  </a:lnTo>
                  <a:cubicBezTo>
                    <a:pt x="19701503" y="0"/>
                    <a:pt x="19989984" y="154813"/>
                    <a:pt x="19989984" y="345948"/>
                  </a:cubicBezTo>
                  <a:lnTo>
                    <a:pt x="19989984" y="1729359"/>
                  </a:lnTo>
                  <a:cubicBezTo>
                    <a:pt x="19989984" y="1920367"/>
                    <a:pt x="19701740" y="2075307"/>
                    <a:pt x="19345732" y="2075307"/>
                  </a:cubicBezTo>
                  <a:lnTo>
                    <a:pt x="644361" y="2075307"/>
                  </a:lnTo>
                  <a:cubicBezTo>
                    <a:pt x="288354" y="2075307"/>
                    <a:pt x="0" y="1920367"/>
                    <a:pt x="0" y="172935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194225" y="2882608"/>
            <a:ext cx="754971" cy="754971"/>
            <a:chOff x="0" y="0"/>
            <a:chExt cx="1006627" cy="1006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287714" y="3086186"/>
            <a:ext cx="6200051" cy="347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2235" y="4451652"/>
            <a:ext cx="14982858" cy="2008392"/>
            <a:chOff x="0" y="0"/>
            <a:chExt cx="10732262" cy="14386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32389" cy="1438642"/>
            </a:xfrm>
            <a:custGeom>
              <a:avLst/>
              <a:gdLst/>
              <a:ahLst/>
              <a:cxnLst/>
              <a:rect r="r" b="b" t="t" l="l"/>
              <a:pathLst>
                <a:path h="1438642" w="10732389">
                  <a:moveTo>
                    <a:pt x="0" y="239816"/>
                  </a:moveTo>
                  <a:cubicBezTo>
                    <a:pt x="0" y="10731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07319"/>
                    <a:pt x="10732389" y="239816"/>
                  </a:cubicBezTo>
                  <a:lnTo>
                    <a:pt x="10732389" y="1198818"/>
                  </a:lnTo>
                  <a:cubicBezTo>
                    <a:pt x="10732389" y="1331227"/>
                    <a:pt x="10577576" y="1438642"/>
                    <a:pt x="10386441" y="1438642"/>
                  </a:cubicBezTo>
                  <a:lnTo>
                    <a:pt x="345948" y="1438642"/>
                  </a:lnTo>
                  <a:cubicBezTo>
                    <a:pt x="154813" y="1438642"/>
                    <a:pt x="0" y="1331227"/>
                    <a:pt x="0" y="119881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17028" y="5078362"/>
            <a:ext cx="754971" cy="754971"/>
            <a:chOff x="0" y="0"/>
            <a:chExt cx="1006627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287715" y="5281940"/>
            <a:ext cx="2527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Erros e evidências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1160" y="8529356"/>
            <a:ext cx="16499519" cy="1070686"/>
            <a:chOff x="0" y="0"/>
            <a:chExt cx="21999359" cy="142758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24314" y="8883724"/>
            <a:ext cx="16499519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Pedro Henrique Luvizotto Uehara, Matheus Rodrigues Cabrera e Gustavo Duarte Güering Guimarães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2701" y="2834302"/>
            <a:ext cx="5638450" cy="921881"/>
            <a:chOff x="0" y="0"/>
            <a:chExt cx="10732262" cy="17547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917757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87714" y="329895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 gpt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94514" y="3936120"/>
            <a:ext cx="6587183" cy="4325874"/>
          </a:xfrm>
          <a:custGeom>
            <a:avLst/>
            <a:gdLst/>
            <a:ahLst/>
            <a:cxnLst/>
            <a:rect r="r" b="b" t="t" l="l"/>
            <a:pathLst>
              <a:path h="4325874" w="6587183">
                <a:moveTo>
                  <a:pt x="0" y="0"/>
                </a:moveTo>
                <a:lnTo>
                  <a:pt x="6587183" y="0"/>
                </a:lnTo>
                <a:lnTo>
                  <a:pt x="6587183" y="4325874"/>
                </a:lnTo>
                <a:lnTo>
                  <a:pt x="0" y="4325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321" t="0" r="-7427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891136" y="2838015"/>
            <a:ext cx="5638450" cy="921881"/>
            <a:chOff x="0" y="0"/>
            <a:chExt cx="10732262" cy="17547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8069094" y="2896410"/>
            <a:ext cx="754971" cy="754970"/>
            <a:chOff x="0" y="0"/>
            <a:chExt cx="1006627" cy="10066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021418" y="3936120"/>
            <a:ext cx="6976916" cy="4325874"/>
          </a:xfrm>
          <a:custGeom>
            <a:avLst/>
            <a:gdLst/>
            <a:ahLst/>
            <a:cxnLst/>
            <a:rect r="r" b="b" t="t" l="l"/>
            <a:pathLst>
              <a:path h="4325874" w="6976916">
                <a:moveTo>
                  <a:pt x="0" y="0"/>
                </a:moveTo>
                <a:lnTo>
                  <a:pt x="6976916" y="0"/>
                </a:lnTo>
                <a:lnTo>
                  <a:pt x="6976916" y="4325874"/>
                </a:lnTo>
                <a:lnTo>
                  <a:pt x="0" y="43258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467" t="-29614" r="0" b="-319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87714" y="2882608"/>
            <a:ext cx="4360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5479" y="8721014"/>
            <a:ext cx="1560285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 de apoio para ínicio de projeto.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040338" y="2882608"/>
            <a:ext cx="118779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</a:t>
            </a:r>
          </a:p>
          <a:p>
            <a:pPr algn="l">
              <a:lnSpc>
                <a:spcPts val="2882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040338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Primeiros prompts 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386" y="2838015"/>
            <a:ext cx="5638450" cy="921881"/>
            <a:chOff x="0" y="0"/>
            <a:chExt cx="10732262" cy="1754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917757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87714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91136" y="2838015"/>
            <a:ext cx="5638450" cy="921881"/>
            <a:chOff x="0" y="0"/>
            <a:chExt cx="10732262" cy="1754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069094" y="2896410"/>
            <a:ext cx="754971" cy="754970"/>
            <a:chOff x="0" y="0"/>
            <a:chExt cx="1006627" cy="10066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17028" y="3936120"/>
            <a:ext cx="4868947" cy="4359555"/>
          </a:xfrm>
          <a:custGeom>
            <a:avLst/>
            <a:gdLst/>
            <a:ahLst/>
            <a:cxnLst/>
            <a:rect r="r" b="b" t="t" l="l"/>
            <a:pathLst>
              <a:path h="4359555" w="4868947">
                <a:moveTo>
                  <a:pt x="0" y="0"/>
                </a:moveTo>
                <a:lnTo>
                  <a:pt x="4868948" y="0"/>
                </a:lnTo>
                <a:lnTo>
                  <a:pt x="4868948" y="4359555"/>
                </a:lnTo>
                <a:lnTo>
                  <a:pt x="0" y="43595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94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630184" y="3936120"/>
            <a:ext cx="4387761" cy="4359555"/>
          </a:xfrm>
          <a:custGeom>
            <a:avLst/>
            <a:gdLst/>
            <a:ahLst/>
            <a:cxnLst/>
            <a:rect r="r" b="b" t="t" l="l"/>
            <a:pathLst>
              <a:path h="4359555" w="4387761">
                <a:moveTo>
                  <a:pt x="0" y="0"/>
                </a:moveTo>
                <a:lnTo>
                  <a:pt x="4387761" y="0"/>
                </a:lnTo>
                <a:lnTo>
                  <a:pt x="4387761" y="4359555"/>
                </a:lnTo>
                <a:lnTo>
                  <a:pt x="0" y="4359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41" t="0" r="-5341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09869" y="3936120"/>
            <a:ext cx="4613108" cy="4359555"/>
          </a:xfrm>
          <a:custGeom>
            <a:avLst/>
            <a:gdLst/>
            <a:ahLst/>
            <a:cxnLst/>
            <a:rect r="r" b="b" t="t" l="l"/>
            <a:pathLst>
              <a:path h="4359555" w="4613108">
                <a:moveTo>
                  <a:pt x="0" y="0"/>
                </a:moveTo>
                <a:lnTo>
                  <a:pt x="4613109" y="0"/>
                </a:lnTo>
                <a:lnTo>
                  <a:pt x="4613109" y="4359555"/>
                </a:lnTo>
                <a:lnTo>
                  <a:pt x="0" y="43595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6424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7714" y="2882608"/>
            <a:ext cx="4360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5479" y="8721014"/>
            <a:ext cx="1560285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 para modo de 1 pessoas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40338" y="2882608"/>
            <a:ext cx="118779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</a:t>
            </a:r>
          </a:p>
          <a:p>
            <a:pPr algn="l">
              <a:lnSpc>
                <a:spcPts val="2882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040338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Jogo para uma pessoa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386" y="2838015"/>
            <a:ext cx="5638450" cy="921881"/>
            <a:chOff x="0" y="0"/>
            <a:chExt cx="10732262" cy="1754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88512" y="106823"/>
            <a:ext cx="18301840" cy="1990373"/>
            <a:chOff x="0" y="0"/>
            <a:chExt cx="24402453" cy="2653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917757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87714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91136" y="2838015"/>
            <a:ext cx="5638450" cy="921881"/>
            <a:chOff x="0" y="0"/>
            <a:chExt cx="10732262" cy="1754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069094" y="2896410"/>
            <a:ext cx="754971" cy="754970"/>
            <a:chOff x="0" y="0"/>
            <a:chExt cx="1006627" cy="10066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7714" y="2882608"/>
            <a:ext cx="4360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5479" y="8721014"/>
            <a:ext cx="15602855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 de ínicio do modo para duas pessoas</a:t>
            </a:r>
          </a:p>
          <a:p>
            <a:pPr algn="ctr">
              <a:lnSpc>
                <a:spcPts val="2702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040338" y="2882608"/>
            <a:ext cx="118779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Prompts</a:t>
            </a:r>
          </a:p>
          <a:p>
            <a:pPr algn="l">
              <a:lnSpc>
                <a:spcPts val="2882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040338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Jogo para duas pessoas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2235" y="4103041"/>
            <a:ext cx="1623060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Prompt utilizado:</a:t>
            </a:r>
          </a:p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“Me ajude a adaptar um jogo de Tetris feito no Unity para dois jogadores, mantendo o modo individual. Quero que cada jogador tenha seu próprio tabuleiro, controles e pontuação, além de condições de vitória e derrota. Explique os códigos necessários e o que precisa ser alterado nos scripts existentes.”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76785" y="5740154"/>
            <a:ext cx="12494560" cy="232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As principais mudanças foram feitas nos seguintes arquivos: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GridManager.cs: foi alterado para separar os tabuleiros e as pontuações dos jogadores, além de cuidar das condições de vitória e derrota.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Piece.cs: foi adaptado para que cada jogador pudesse controlar suas próprias peças usando teclas diferentes.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MainMenu.cs: foram feitos ajustes para iniciar a partida de acordo com o modo escolhido.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MainMenu.unity: foi corrigido o botão de dois jogadores, que não estava configurado corretamente, e foram ajustados alguns elementos da interface.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Game.unity: foram corrigidas as escalas de alguns elementos relacionados à pontuação, ao tempo e ao fim da partida.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EditorBuildSettings.asset: foram configuradas as cenas necessárias para executar o jogo.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386" y="2838015"/>
            <a:ext cx="5638450" cy="921881"/>
            <a:chOff x="0" y="0"/>
            <a:chExt cx="10732262" cy="1754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917757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87714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49017" y="2750847"/>
            <a:ext cx="5638450" cy="921881"/>
            <a:chOff x="0" y="0"/>
            <a:chExt cx="10732262" cy="1754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041546" y="2834302"/>
            <a:ext cx="754971" cy="754970"/>
            <a:chOff x="0" y="0"/>
            <a:chExt cx="1006627" cy="10066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7714" y="2882608"/>
            <a:ext cx="4360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79704" y="3063583"/>
            <a:ext cx="429800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Principais  trechos de códigos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7028" y="3788471"/>
            <a:ext cx="570249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Escolha do modo de jogo — MainMenu.cs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5479" y="4264721"/>
            <a:ext cx="4964202" cy="331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public void IniciarDoisJogadores()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{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Time.timeScale = 1f;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PlayerPrefs.SetInt("GameMode", 2);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PlayerPrefs.Save();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SceneManager.LoadScene("Game");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6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}</a:t>
            </a:r>
          </a:p>
          <a:p>
            <a:pPr algn="ctr">
              <a:lnSpc>
                <a:spcPts val="1699"/>
              </a:lnSpc>
              <a:spcBef>
                <a:spcPct val="0"/>
              </a:spcBef>
            </a:pPr>
          </a:p>
          <a:p>
            <a:pPr algn="ctr">
              <a:lnSpc>
                <a:spcPts val="2419"/>
              </a:lnSpc>
              <a:spcBef>
                <a:spcPct val="0"/>
              </a:spcBef>
            </a:pPr>
            <a:r>
              <a:rPr lang="en-US" b="true" sz="2015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 trecho faz o jogo iniciar no modo de dois jogadores. O valor 2 é usado para identificar o modo escolhido, e o LoadScene abre a cena principal do jogo.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66421" y="3759896"/>
            <a:ext cx="7805845" cy="432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Separação dos tabuleiros — GridManager.cs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b="true" sz="109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public const int larg = 10;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b="true" sz="109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public const int alt = 20;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b="true" sz="109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private readonly Transform[,] grid =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b="true" sz="109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new Transform[larg, alt];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</a:p>
          <a:p>
            <a:pPr algn="ctr">
              <a:lnSpc>
                <a:spcPts val="1310"/>
              </a:lnSpc>
              <a:spcBef>
                <a:spcPct val="0"/>
              </a:spcBef>
            </a:pPr>
            <a:r>
              <a:rPr lang="en-US" b="true" sz="109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private int pontuacao;</a:t>
            </a:r>
          </a:p>
          <a:p>
            <a:pPr algn="ctr">
              <a:lnSpc>
                <a:spcPts val="1310"/>
              </a:lnSpc>
              <a:spcBef>
                <a:spcPct val="0"/>
              </a:spcBef>
            </a:pPr>
          </a:p>
          <a:p>
            <a:pPr algn="ctr">
              <a:lnSpc>
                <a:spcPts val="2645"/>
              </a:lnSpc>
              <a:spcBef>
                <a:spcPct val="0"/>
              </a:spcBef>
            </a:pPr>
            <a:r>
              <a:rPr lang="en-US" b="true" sz="220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Nesse código, a matriz grid representa o tabuleiro, que possui 10 colunas e 20 linhas. Ela guarda as posições ocupadas pelas peças, enquanto pontuacao armazena os pontos do jogador.</a:t>
            </a:r>
          </a:p>
          <a:p>
            <a:pPr algn="ctr">
              <a:lnSpc>
                <a:spcPts val="2645"/>
              </a:lnSpc>
              <a:spcBef>
                <a:spcPct val="0"/>
              </a:spcBef>
            </a:pPr>
            <a:r>
              <a:rPr lang="en-US" b="true" sz="220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Uma das mudanças importantes foi deixar essas informações separadas para cada jogador, evitando que os dois utilizassem o mesmo tabuleiro ou compartilhassem a pontuação.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386" y="2838015"/>
            <a:ext cx="5638450" cy="921881"/>
            <a:chOff x="0" y="0"/>
            <a:chExt cx="10732262" cy="1754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917757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87714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49017" y="2750847"/>
            <a:ext cx="5638450" cy="921881"/>
            <a:chOff x="0" y="0"/>
            <a:chExt cx="10732262" cy="1754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041546" y="2834302"/>
            <a:ext cx="754971" cy="754970"/>
            <a:chOff x="0" y="0"/>
            <a:chExt cx="1006627" cy="10066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7714" y="2882608"/>
            <a:ext cx="4360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79704" y="3063583"/>
            <a:ext cx="429800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Principais  trechos de códigos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2760" y="3855146"/>
            <a:ext cx="625509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Cri</a:t>
            </a: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ação do segundo jogador - GridManager.cs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24790" y="4312346"/>
            <a:ext cx="5471036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GameObject objetoJogador2 =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new GameObject("GridManager_Player2");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 jogador2 =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objetoJogador2.AddComponent&lt;GridManager&gt;();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jogador2.playerNumber = 2;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jogador2.boardOffsetX = deslocamentoEntreTabuleiros;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jogador2.pecasPrefabs = pecasPrefabs;</a:t>
            </a:r>
          </a:p>
          <a:p>
            <a:pPr algn="ctr">
              <a:lnSpc>
                <a:spcPts val="1341"/>
              </a:lnSpc>
              <a:spcBef>
                <a:spcPct val="0"/>
              </a:spcBef>
            </a:pPr>
            <a:r>
              <a:rPr lang="en-US" b="true" sz="1118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jogador2.scoreText = placarJogador2;</a:t>
            </a:r>
          </a:p>
          <a:p>
            <a:pPr algn="ctr">
              <a:lnSpc>
                <a:spcPts val="1102"/>
              </a:lnSpc>
              <a:spcBef>
                <a:spcPct val="0"/>
              </a:spcBef>
            </a:pP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b="true" sz="180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 código cria um objeto responsável pelo segundo jogador e adiciona o script GridManager a ele. Depois, configura o número do jogador, a posição do tabuleiro, as peças que serão utilizadas e o placar.</a:t>
            </a:r>
          </a:p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b="true" sz="180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Assim, o segundo jogador utiliza a mesma lógica principal do jogo, mas possui suas próprias configurações.</a:t>
            </a:r>
          </a:p>
          <a:p>
            <a:pPr algn="ctr">
              <a:lnSpc>
                <a:spcPts val="1646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0" y="3759896"/>
            <a:ext cx="8754580" cy="473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8"/>
              </a:lnSpc>
              <a:spcBef>
                <a:spcPct val="0"/>
              </a:spcBef>
            </a:pPr>
            <a:r>
              <a:rPr lang="en-US" b="true" sz="2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</a:t>
            </a:r>
            <a:r>
              <a:rPr lang="en-US" b="true" sz="2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ontroles de cada jogador - Piece.cs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jogadorUnico =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PlayerPrefs.GetInt("GameMode", 1) != 2;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jogador1 =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gridManager.PlayerNumber == 1;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esquerda = jogador1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? (Input.GetKeyDown(KeyCode.LeftArrow)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|| (jogadorUnico &amp;&amp;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   Input.GetKeyDown(KeyCode.A)))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: Input.GetKeyDown(KeyCode.A);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bool direita = jogador1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? (Input.GetKeyDown(KeyCode.RightArrow)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|| (jogadorUnico &amp;&amp;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   Input.GetKeyDown(KeyCode.D)))</a:t>
            </a:r>
          </a:p>
          <a:p>
            <a:pPr algn="ctr">
              <a:lnSpc>
                <a:spcPts val="1239"/>
              </a:lnSpc>
              <a:spcBef>
                <a:spcPct val="0"/>
              </a:spcBef>
            </a:pPr>
            <a:r>
              <a:rPr lang="en-US" b="true" sz="1032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: Input.GetKeyDown(KeyCode.D);</a:t>
            </a:r>
          </a:p>
          <a:p>
            <a:pPr algn="ctr">
              <a:lnSpc>
                <a:spcPts val="1123"/>
              </a:lnSpc>
              <a:spcBef>
                <a:spcPct val="0"/>
              </a:spcBef>
            </a:pP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 trecho verifica qual jogador está controlando a peça e define as teclas que ele pode usar. O jogador 1 utiliza as setas do teclado, enquanto o jogador 2 utiliza A e D para movimentar as peças para os lados. A mesma ideia é aplicada aos comandos de rotação e de aceleração da queda.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17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Essa mudança é importante porque permite que os dois joguem ao mesmo tempo, sem precisarem usar os mesmos controles.</a:t>
            </a:r>
          </a:p>
          <a:p>
            <a:pPr algn="ctr">
              <a:lnSpc>
                <a:spcPts val="103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2386" y="2838015"/>
            <a:ext cx="5638450" cy="921881"/>
            <a:chOff x="0" y="0"/>
            <a:chExt cx="10732262" cy="1754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917757"/>
            <a:ext cx="754971" cy="754971"/>
            <a:chOff x="0" y="0"/>
            <a:chExt cx="1006627" cy="1006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2"/>
            </a:xfrm>
            <a:custGeom>
              <a:avLst/>
              <a:gdLst/>
              <a:ahLst/>
              <a:cxnLst/>
              <a:rect r="r" b="b" t="t" l="l"/>
              <a:pathLst>
                <a:path h="1006602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4"/>
                    <a:pt x="781304" y="1006602"/>
                    <a:pt x="503301" y="1006602"/>
                  </a:cubicBezTo>
                  <a:cubicBezTo>
                    <a:pt x="225298" y="1006602"/>
                    <a:pt x="0" y="781304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87714" y="3273895"/>
            <a:ext cx="615886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326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Chatgpt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49017" y="2750847"/>
            <a:ext cx="5638450" cy="921881"/>
            <a:chOff x="0" y="0"/>
            <a:chExt cx="10732262" cy="175471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2389" cy="1754739"/>
            </a:xfrm>
            <a:custGeom>
              <a:avLst/>
              <a:gdLst/>
              <a:ahLst/>
              <a:cxnLst/>
              <a:rect r="r" b="b" t="t" l="l"/>
              <a:pathLst>
                <a:path h="1754739" w="10732389">
                  <a:moveTo>
                    <a:pt x="0" y="292510"/>
                  </a:moveTo>
                  <a:cubicBezTo>
                    <a:pt x="0" y="130899"/>
                    <a:pt x="154813" y="0"/>
                    <a:pt x="345948" y="0"/>
                  </a:cubicBezTo>
                  <a:lnTo>
                    <a:pt x="10386441" y="0"/>
                  </a:lnTo>
                  <a:cubicBezTo>
                    <a:pt x="10577449" y="0"/>
                    <a:pt x="10732389" y="130899"/>
                    <a:pt x="10732389" y="292510"/>
                  </a:cubicBezTo>
                  <a:lnTo>
                    <a:pt x="10732389" y="1462225"/>
                  </a:lnTo>
                  <a:cubicBezTo>
                    <a:pt x="10732389" y="1623729"/>
                    <a:pt x="10577576" y="1754739"/>
                    <a:pt x="10386441" y="1754739"/>
                  </a:cubicBezTo>
                  <a:lnTo>
                    <a:pt x="345948" y="1754739"/>
                  </a:lnTo>
                  <a:cubicBezTo>
                    <a:pt x="154813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041546" y="2834302"/>
            <a:ext cx="754971" cy="754970"/>
            <a:chOff x="0" y="0"/>
            <a:chExt cx="1006627" cy="10066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IAs e prompts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87714" y="2882608"/>
            <a:ext cx="43606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79704" y="3063583"/>
            <a:ext cx="4298007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Principais  trechos de códigos 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80297" y="3836917"/>
            <a:ext cx="551051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  <a:spcBef>
                <a:spcPct val="0"/>
              </a:spcBef>
            </a:pP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Defini</a:t>
            </a:r>
            <a:r>
              <a:rPr lang="en-US" b="true" sz="240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ção do vencedor - GridManager.cs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5479" y="4020020"/>
            <a:ext cx="15091988" cy="446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5"/>
              </a:lnSpc>
              <a:spcBef>
                <a:spcPct val="0"/>
              </a:spcBef>
            </a:p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GridManager jogador2 = jogadores[1];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if (pontuacao &gt; jogador2.pontuacao)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FinalizarPartida(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"JOGADOR 1 VENCEU PELOS PONTOS!",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"O tempo terminou.");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else if (jogador2.pontuacao &gt; pontuacao)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FinalizarPartida(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"JOGADOR 2 VENCEU PELOS PONTOS!",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"O tempo terminou.");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else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FinalizarPartida(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"EMPATE!",</a:t>
            </a:r>
          </a:p>
          <a:p>
            <a:pPr algn="ctr">
              <a:lnSpc>
                <a:spcPts val="1491"/>
              </a:lnSpc>
              <a:spcBef>
                <a:spcPct val="0"/>
              </a:spcBef>
            </a:pPr>
            <a:r>
              <a:rPr lang="en-US" b="true" sz="124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        "O tempo terminou com a mesma pontuação.");</a:t>
            </a:r>
          </a:p>
          <a:p>
            <a:pPr algn="ctr">
              <a:lnSpc>
                <a:spcPts val="1265"/>
              </a:lnSpc>
              <a:spcBef>
                <a:spcPct val="0"/>
              </a:spcBef>
            </a:pPr>
          </a:p>
          <a:p>
            <a:pPr algn="ctr">
              <a:lnSpc>
                <a:spcPts val="2489"/>
              </a:lnSpc>
              <a:spcBef>
                <a:spcPct val="0"/>
              </a:spcBef>
            </a:pPr>
            <a:r>
              <a:rPr lang="en-US" b="true" sz="207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Esse código compara os pontos dos dois jogadores quando o tempo acaba. Quem tiver mais pontos vence e, se os dois tiverem a mesma pontuação, ocorre um empate.</a:t>
            </a:r>
          </a:p>
          <a:p>
            <a:pPr algn="ctr">
              <a:lnSpc>
                <a:spcPts val="2489"/>
              </a:lnSpc>
              <a:spcBef>
                <a:spcPct val="0"/>
              </a:spcBef>
            </a:pPr>
            <a:r>
              <a:rPr lang="en-US" b="true" sz="2074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Dessa forma, o jogo passa a ter uma regra para decidir o vencedor da partida.</a:t>
            </a:r>
          </a:p>
          <a:p>
            <a:pPr algn="ctr">
              <a:lnSpc>
                <a:spcPts val="155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456817"/>
            <a:ext cx="8625473" cy="921881"/>
            <a:chOff x="0" y="0"/>
            <a:chExt cx="16417780" cy="1754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17906" cy="1754739"/>
            </a:xfrm>
            <a:custGeom>
              <a:avLst/>
              <a:gdLst/>
              <a:ahLst/>
              <a:cxnLst/>
              <a:rect r="r" b="b" t="t" l="l"/>
              <a:pathLst>
                <a:path h="1754739" w="16417906">
                  <a:moveTo>
                    <a:pt x="0" y="292510"/>
                  </a:moveTo>
                  <a:cubicBezTo>
                    <a:pt x="0" y="130899"/>
                    <a:pt x="236827" y="0"/>
                    <a:pt x="529217" y="0"/>
                  </a:cubicBezTo>
                  <a:lnTo>
                    <a:pt x="15888757" y="0"/>
                  </a:lnTo>
                  <a:cubicBezTo>
                    <a:pt x="16180953" y="0"/>
                    <a:pt x="16417906" y="130899"/>
                    <a:pt x="16417906" y="292510"/>
                  </a:cubicBezTo>
                  <a:lnTo>
                    <a:pt x="16417906" y="1462225"/>
                  </a:lnTo>
                  <a:cubicBezTo>
                    <a:pt x="16417906" y="1623729"/>
                    <a:pt x="16181147" y="1754739"/>
                    <a:pt x="15888757" y="1754739"/>
                  </a:cubicBezTo>
                  <a:lnTo>
                    <a:pt x="529217" y="1754739"/>
                  </a:lnTo>
                  <a:cubicBezTo>
                    <a:pt x="236827" y="1754739"/>
                    <a:pt x="0" y="1623729"/>
                    <a:pt x="0" y="146222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CE4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990373"/>
            <a:chOff x="0" y="0"/>
            <a:chExt cx="24402453" cy="26538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2653792"/>
            </a:xfrm>
            <a:custGeom>
              <a:avLst/>
              <a:gdLst/>
              <a:ahLst/>
              <a:cxnLst/>
              <a:rect r="r" b="b" t="t" l="l"/>
              <a:pathLst>
                <a:path h="2653792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2653792"/>
                  </a:lnTo>
                  <a:lnTo>
                    <a:pt x="0" y="2653792"/>
                  </a:lnTo>
                  <a:close/>
                </a:path>
              </a:pathLst>
            </a:custGeom>
            <a:solidFill>
              <a:srgbClr val="12263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4971" y="590245"/>
            <a:ext cx="109814" cy="892235"/>
            <a:chOff x="0" y="0"/>
            <a:chExt cx="146418" cy="11896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1189609"/>
            </a:xfrm>
            <a:custGeom>
              <a:avLst/>
              <a:gdLst/>
              <a:ahLst/>
              <a:cxnLst/>
              <a:rect r="r" b="b" t="t" l="l"/>
              <a:pathLst>
                <a:path h="1189609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189609"/>
                  </a:lnTo>
                  <a:lnTo>
                    <a:pt x="0" y="1189609"/>
                  </a:lnTo>
                  <a:close/>
                </a:path>
              </a:pathLst>
            </a:custGeom>
            <a:solidFill>
              <a:srgbClr val="229B9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7028" y="2540272"/>
            <a:ext cx="754971" cy="754970"/>
            <a:chOff x="0" y="0"/>
            <a:chExt cx="1006627" cy="10066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6602" cy="1006601"/>
            </a:xfrm>
            <a:custGeom>
              <a:avLst/>
              <a:gdLst/>
              <a:ahLst/>
              <a:cxnLst/>
              <a:rect r="r" b="b" t="t" l="l"/>
              <a:pathLst>
                <a:path h="1006601" w="1006602">
                  <a:moveTo>
                    <a:pt x="0" y="503301"/>
                  </a:moveTo>
                  <a:cubicBezTo>
                    <a:pt x="0" y="225298"/>
                    <a:pt x="225298" y="0"/>
                    <a:pt x="503301" y="0"/>
                  </a:cubicBezTo>
                  <a:cubicBezTo>
                    <a:pt x="781304" y="0"/>
                    <a:pt x="1006602" y="225298"/>
                    <a:pt x="1006602" y="503301"/>
                  </a:cubicBezTo>
                  <a:cubicBezTo>
                    <a:pt x="1006602" y="781303"/>
                    <a:pt x="781304" y="1006601"/>
                    <a:pt x="503301" y="1006601"/>
                  </a:cubicBezTo>
                  <a:cubicBezTo>
                    <a:pt x="225298" y="1006601"/>
                    <a:pt x="0" y="781303"/>
                    <a:pt x="0" y="503301"/>
                  </a:cubicBezTo>
                  <a:close/>
                </a:path>
              </a:pathLst>
            </a:custGeom>
            <a:solidFill>
              <a:srgbClr val="229B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06627" cy="1006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2235" y="8441931"/>
            <a:ext cx="16499519" cy="1070686"/>
            <a:chOff x="0" y="0"/>
            <a:chExt cx="21999359" cy="14275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99448" cy="1427607"/>
            </a:xfrm>
            <a:custGeom>
              <a:avLst/>
              <a:gdLst/>
              <a:ahLst/>
              <a:cxnLst/>
              <a:rect r="r" b="b" t="t" l="l"/>
              <a:pathLst>
                <a:path h="1427607" w="21999448">
                  <a:moveTo>
                    <a:pt x="0" y="237998"/>
                  </a:moveTo>
                  <a:cubicBezTo>
                    <a:pt x="0" y="106553"/>
                    <a:pt x="106553" y="0"/>
                    <a:pt x="237998" y="0"/>
                  </a:cubicBezTo>
                  <a:lnTo>
                    <a:pt x="21761450" y="0"/>
                  </a:lnTo>
                  <a:cubicBezTo>
                    <a:pt x="21892895" y="0"/>
                    <a:pt x="21999448" y="106553"/>
                    <a:pt x="21999448" y="237998"/>
                  </a:cubicBezTo>
                  <a:lnTo>
                    <a:pt x="21999448" y="1189609"/>
                  </a:lnTo>
                  <a:cubicBezTo>
                    <a:pt x="21999448" y="1321054"/>
                    <a:pt x="21892895" y="1427607"/>
                    <a:pt x="21761450" y="1427607"/>
                  </a:cubicBezTo>
                  <a:lnTo>
                    <a:pt x="237998" y="1427607"/>
                  </a:lnTo>
                  <a:cubicBezTo>
                    <a:pt x="106553" y="1427607"/>
                    <a:pt x="0" y="1321054"/>
                    <a:pt x="0" y="1189609"/>
                  </a:cubicBezTo>
                  <a:close/>
                </a:path>
              </a:pathLst>
            </a:custGeom>
            <a:solidFill>
              <a:srgbClr val="E2F1F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975446" y="3509835"/>
            <a:ext cx="6509093" cy="4622782"/>
          </a:xfrm>
          <a:custGeom>
            <a:avLst/>
            <a:gdLst/>
            <a:ahLst/>
            <a:cxnLst/>
            <a:rect r="r" b="b" t="t" l="l"/>
            <a:pathLst>
              <a:path h="4622782" w="6509093">
                <a:moveTo>
                  <a:pt x="0" y="0"/>
                </a:moveTo>
                <a:lnTo>
                  <a:pt x="6509093" y="0"/>
                </a:lnTo>
                <a:lnTo>
                  <a:pt x="6509093" y="4622782"/>
                </a:lnTo>
                <a:lnTo>
                  <a:pt x="0" y="4622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5604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7028" y="526151"/>
            <a:ext cx="16014659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Erros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4860" y="2736782"/>
            <a:ext cx="2559248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 b="true">
                <a:solidFill>
                  <a:srgbClr val="12263F"/>
                </a:solidFill>
                <a:latin typeface="Aptos Bold"/>
                <a:ea typeface="Aptos Bold"/>
                <a:cs typeface="Aptos Bold"/>
                <a:sym typeface="Aptos Bold"/>
              </a:rPr>
              <a:t>Erros encontrados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32783" y="3509835"/>
            <a:ext cx="4617306" cy="4493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2"/>
              </a:lnSpc>
              <a:spcBef>
                <a:spcPct val="0"/>
              </a:spcBef>
            </a:pPr>
            <a:r>
              <a:rPr lang="en-US" b="true" sz="229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Durante o desenvolvimento, foram identificados alguns problemas, como o botão de dois jogadores não estar conectado à ação correta e alguns elementos da interface estarem com a escala zerada.</a:t>
            </a:r>
          </a:p>
          <a:p>
            <a:pPr algn="ctr">
              <a:lnSpc>
                <a:spcPts val="2752"/>
              </a:lnSpc>
              <a:spcBef>
                <a:spcPct val="0"/>
              </a:spcBef>
            </a:pPr>
            <a:r>
              <a:rPr lang="en-US" b="true" sz="229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 ChatGPT ajudou a identificar esses problemas e sugeriu como corrigi-los. Também auxiliou nas mudanças necessárias para separar os tabuleiros e os controles de cada jogador.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DAHYY1YhNYk</dc:identifier>
  <dcterms:modified xsi:type="dcterms:W3CDTF">2011-08-01T06:04:30Z</dcterms:modified>
  <cp:revision>1</cp:revision>
  <dc:title>slide_o_que_documentar.pptx</dc:title>
</cp:coreProperties>
</file>