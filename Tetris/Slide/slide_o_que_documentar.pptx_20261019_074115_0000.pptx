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Documentação criação do jogo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82701" y="2529916"/>
            <a:ext cx="14992393" cy="1556461"/>
            <a:chOff x="0" y="0"/>
            <a:chExt cx="19989857" cy="20752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989984" cy="2075307"/>
            </a:xfrm>
            <a:custGeom>
              <a:avLst/>
              <a:gdLst/>
              <a:ahLst/>
              <a:cxnLst/>
              <a:rect l="l" t="t" r="r" b="b"/>
              <a:pathLst>
                <a:path w="19989984" h="2075307">
                  <a:moveTo>
                    <a:pt x="0" y="345948"/>
                  </a:moveTo>
                  <a:cubicBezTo>
                    <a:pt x="0" y="154813"/>
                    <a:pt x="288354" y="0"/>
                    <a:pt x="644361" y="0"/>
                  </a:cubicBezTo>
                  <a:lnTo>
                    <a:pt x="19345732" y="0"/>
                  </a:lnTo>
                  <a:cubicBezTo>
                    <a:pt x="19701503" y="0"/>
                    <a:pt x="19989984" y="154813"/>
                    <a:pt x="19989984" y="345948"/>
                  </a:cubicBezTo>
                  <a:lnTo>
                    <a:pt x="19989984" y="1729359"/>
                  </a:lnTo>
                  <a:cubicBezTo>
                    <a:pt x="19989984" y="1920367"/>
                    <a:pt x="19701740" y="2075307"/>
                    <a:pt x="19345732" y="2075307"/>
                  </a:cubicBezTo>
                  <a:lnTo>
                    <a:pt x="644361" y="2075307"/>
                  </a:lnTo>
                  <a:cubicBezTo>
                    <a:pt x="288354" y="2075307"/>
                    <a:pt x="0" y="1920367"/>
                    <a:pt x="0" y="172935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194225" y="2882608"/>
            <a:ext cx="754971" cy="754971"/>
            <a:chOff x="0" y="0"/>
            <a:chExt cx="1006627" cy="1006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87714" y="3086186"/>
            <a:ext cx="620005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2235" y="4451652"/>
            <a:ext cx="14982858" cy="2008392"/>
            <a:chOff x="0" y="0"/>
            <a:chExt cx="10732262" cy="14386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32389" cy="1438642"/>
            </a:xfrm>
            <a:custGeom>
              <a:avLst/>
              <a:gdLst/>
              <a:ahLst/>
              <a:cxnLst/>
              <a:rect l="l" t="t" r="r" b="b"/>
              <a:pathLst>
                <a:path w="10732389" h="1438642">
                  <a:moveTo>
                    <a:pt x="0" y="239816"/>
                  </a:moveTo>
                  <a:cubicBezTo>
                    <a:pt x="0" y="10731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07319"/>
                    <a:pt x="10732389" y="239816"/>
                  </a:cubicBezTo>
                  <a:lnTo>
                    <a:pt x="10732389" y="1198818"/>
                  </a:lnTo>
                  <a:cubicBezTo>
                    <a:pt x="10732389" y="1331227"/>
                    <a:pt x="10577576" y="1438642"/>
                    <a:pt x="10386441" y="1438642"/>
                  </a:cubicBezTo>
                  <a:lnTo>
                    <a:pt x="345948" y="1438642"/>
                  </a:lnTo>
                  <a:cubicBezTo>
                    <a:pt x="154813" y="1438642"/>
                    <a:pt x="0" y="1331227"/>
                    <a:pt x="0" y="11988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17028" y="5078362"/>
            <a:ext cx="754971" cy="754971"/>
            <a:chOff x="0" y="0"/>
            <a:chExt cx="1006627" cy="10066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287715" y="5281940"/>
            <a:ext cx="25272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Erros e evidências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1160" y="8529356"/>
            <a:ext cx="16499519" cy="1070686"/>
            <a:chOff x="0" y="0"/>
            <a:chExt cx="21999359" cy="14275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624314" y="8883724"/>
            <a:ext cx="164995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40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Pedro Henrique Luvizotto Uehara, Matheus Rodrigues Cabrera e Gustavo Duarte Güering Guimarães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92235" y="2783617"/>
            <a:ext cx="5638450" cy="921881"/>
            <a:chOff x="0" y="0"/>
            <a:chExt cx="10732262" cy="17547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217028" y="2917757"/>
            <a:ext cx="754971" cy="754971"/>
            <a:chOff x="0" y="0"/>
            <a:chExt cx="1006627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13280" y="3273885"/>
            <a:ext cx="6158865" cy="711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Gemini</a:t>
            </a:r>
          </a:p>
          <a:p>
            <a:pPr algn="l">
              <a:lnSpc>
                <a:spcPts val="2791"/>
              </a:lnSpc>
            </a:pPr>
            <a:endParaRPr lang="en-US" sz="2326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594514" y="3936120"/>
            <a:ext cx="6587183" cy="4325874"/>
          </a:xfrm>
          <a:custGeom>
            <a:avLst/>
            <a:gdLst/>
            <a:ahLst/>
            <a:cxnLst/>
            <a:rect l="l" t="t" r="r" b="b"/>
            <a:pathLst>
              <a:path w="6587183" h="4325874">
                <a:moveTo>
                  <a:pt x="0" y="0"/>
                </a:moveTo>
                <a:lnTo>
                  <a:pt x="6587183" y="0"/>
                </a:lnTo>
                <a:lnTo>
                  <a:pt x="6587183" y="4325874"/>
                </a:lnTo>
                <a:lnTo>
                  <a:pt x="0" y="4325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21" r="-7427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7891136" y="2838015"/>
            <a:ext cx="5638450" cy="921881"/>
            <a:chOff x="0" y="0"/>
            <a:chExt cx="10732262" cy="17547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069094" y="2896410"/>
            <a:ext cx="754971" cy="754970"/>
            <a:chOff x="0" y="0"/>
            <a:chExt cx="1006627" cy="10066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0021418" y="3936120"/>
            <a:ext cx="6976916" cy="4325874"/>
          </a:xfrm>
          <a:custGeom>
            <a:avLst/>
            <a:gdLst/>
            <a:ahLst/>
            <a:cxnLst/>
            <a:rect l="l" t="t" r="r" b="b"/>
            <a:pathLst>
              <a:path w="6976916" h="4325874">
                <a:moveTo>
                  <a:pt x="0" y="0"/>
                </a:moveTo>
                <a:lnTo>
                  <a:pt x="6976916" y="0"/>
                </a:lnTo>
                <a:lnTo>
                  <a:pt x="6976916" y="4325874"/>
                </a:lnTo>
                <a:lnTo>
                  <a:pt x="0" y="4325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467" t="-29614" b="-3198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87714" y="2882608"/>
            <a:ext cx="1522286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 dirty="0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5479" y="8721014"/>
            <a:ext cx="1560285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 de apoio para ínicio de projeto.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40338" y="2882608"/>
            <a:ext cx="1187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</a:t>
            </a:r>
          </a:p>
          <a:p>
            <a:pPr algn="l">
              <a:lnSpc>
                <a:spcPts val="2882"/>
              </a:lnSpc>
            </a:pPr>
            <a:endParaRPr lang="en-US" sz="2401" b="1">
              <a:solidFill>
                <a:srgbClr val="12263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040338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Primeiros prompts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386" y="2838015"/>
            <a:ext cx="5638450" cy="921881"/>
            <a:chOff x="0" y="0"/>
            <a:chExt cx="10732262" cy="1754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028" y="2917757"/>
            <a:ext cx="754971" cy="754971"/>
            <a:chOff x="0" y="0"/>
            <a:chExt cx="1006627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7714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Gemini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891136" y="2838015"/>
            <a:ext cx="5638450" cy="921881"/>
            <a:chOff x="0" y="0"/>
            <a:chExt cx="10732262" cy="175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69094" y="2896410"/>
            <a:ext cx="754971" cy="754970"/>
            <a:chOff x="0" y="0"/>
            <a:chExt cx="1006627" cy="10066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217028" y="3936120"/>
            <a:ext cx="4868947" cy="4359555"/>
          </a:xfrm>
          <a:custGeom>
            <a:avLst/>
            <a:gdLst/>
            <a:ahLst/>
            <a:cxnLst/>
            <a:rect l="l" t="t" r="r" b="b"/>
            <a:pathLst>
              <a:path w="4868947" h="4359555">
                <a:moveTo>
                  <a:pt x="0" y="0"/>
                </a:moveTo>
                <a:lnTo>
                  <a:pt x="4868948" y="0"/>
                </a:lnTo>
                <a:lnTo>
                  <a:pt x="4868948" y="4359555"/>
                </a:lnTo>
                <a:lnTo>
                  <a:pt x="0" y="4359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39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630184" y="3936120"/>
            <a:ext cx="4387761" cy="4359555"/>
          </a:xfrm>
          <a:custGeom>
            <a:avLst/>
            <a:gdLst/>
            <a:ahLst/>
            <a:cxnLst/>
            <a:rect l="l" t="t" r="r" b="b"/>
            <a:pathLst>
              <a:path w="4387761" h="4359555">
                <a:moveTo>
                  <a:pt x="0" y="0"/>
                </a:moveTo>
                <a:lnTo>
                  <a:pt x="4387761" y="0"/>
                </a:lnTo>
                <a:lnTo>
                  <a:pt x="4387761" y="4359555"/>
                </a:lnTo>
                <a:lnTo>
                  <a:pt x="0" y="4359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41" r="-5341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309869" y="3936120"/>
            <a:ext cx="4613108" cy="4359555"/>
          </a:xfrm>
          <a:custGeom>
            <a:avLst/>
            <a:gdLst/>
            <a:ahLst/>
            <a:cxnLst/>
            <a:rect l="l" t="t" r="r" b="b"/>
            <a:pathLst>
              <a:path w="4613108" h="4359555">
                <a:moveTo>
                  <a:pt x="0" y="0"/>
                </a:moveTo>
                <a:lnTo>
                  <a:pt x="4613109" y="0"/>
                </a:lnTo>
                <a:lnTo>
                  <a:pt x="4613109" y="4359555"/>
                </a:lnTo>
                <a:lnTo>
                  <a:pt x="0" y="435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424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87714" y="2882608"/>
            <a:ext cx="1293686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 dirty="0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5479" y="8721014"/>
            <a:ext cx="1560285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 para modo de 1 pessoas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40338" y="2882608"/>
            <a:ext cx="1187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</a:t>
            </a:r>
          </a:p>
          <a:p>
            <a:pPr algn="l">
              <a:lnSpc>
                <a:spcPts val="2882"/>
              </a:lnSpc>
            </a:pPr>
            <a:endParaRPr lang="en-US" sz="2401" b="1">
              <a:solidFill>
                <a:srgbClr val="12263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040338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Jogo para uma pessoa 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386" y="2838015"/>
            <a:ext cx="5638450" cy="921881"/>
            <a:chOff x="0" y="0"/>
            <a:chExt cx="10732262" cy="1754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188512" y="106823"/>
            <a:ext cx="18301840" cy="1990373"/>
            <a:chOff x="0" y="0"/>
            <a:chExt cx="24402453" cy="2653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028" y="2917757"/>
            <a:ext cx="754971" cy="754971"/>
            <a:chOff x="0" y="0"/>
            <a:chExt cx="1006627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7714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891136" y="2838015"/>
            <a:ext cx="5638450" cy="921881"/>
            <a:chOff x="0" y="0"/>
            <a:chExt cx="10732262" cy="175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69094" y="2896410"/>
            <a:ext cx="754971" cy="754970"/>
            <a:chOff x="0" y="0"/>
            <a:chExt cx="1006627" cy="10066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7713" y="2882608"/>
            <a:ext cx="814499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 dirty="0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5479" y="8721014"/>
            <a:ext cx="1560285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 de ínicio do modo para duas pessoas</a:t>
            </a:r>
          </a:p>
          <a:p>
            <a:pPr algn="ctr">
              <a:lnSpc>
                <a:spcPts val="2702"/>
              </a:lnSpc>
            </a:pPr>
            <a:endParaRPr lang="en-US" sz="2251" b="1">
              <a:solidFill>
                <a:srgbClr val="12263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040338" y="2882608"/>
            <a:ext cx="1187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</a:t>
            </a:r>
          </a:p>
          <a:p>
            <a:pPr algn="l">
              <a:lnSpc>
                <a:spcPts val="2882"/>
              </a:lnSpc>
            </a:pPr>
            <a:endParaRPr lang="en-US" sz="2401" b="1">
              <a:solidFill>
                <a:srgbClr val="12263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040338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Jogo para duas pessoas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2235" y="4103041"/>
            <a:ext cx="1623060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40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Prompt utilizado:</a:t>
            </a:r>
          </a:p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40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“Me ajude a adaptar um jogo de Tetris feito no Unity para dois jogadores, mantendo o modo individual. Quero que cada jogador tenha seu próprio tabuleiro, controles e pontuação, além de condições de vitória e derrota. Explique os códigos necessários e o que precisa ser alterado nos scripts existentes.”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76785" y="5740154"/>
            <a:ext cx="12494560" cy="232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As principais mudanças foram feitas nos seguintes arquivos: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GridManager.cs: foi alterado para separar os tabuleiros e as pontuações dos jogadores, além de cuidar das condições de vitória e derrota.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Piece.cs: foi adaptado para que cada jogador pudesse controlar suas próprias peças usando teclas diferentes.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MainMenu.cs: foram feitos ajustes para iniciar a partida de acordo com o modo escolhido.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MainMenu.unity: foi corrigido o botão de dois jogadores, que não estava configurado corretamente, e foram ajustados alguns elementos da interface.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Game.unity: foram corrigidas as escalas de alguns elementos relacionados à pontuação, ao tempo e ao fim da partida.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EditorBuildSettings.asset: foram configuradas as cenas necessárias para executar o jogo.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386" y="2838015"/>
            <a:ext cx="5638450" cy="921881"/>
            <a:chOff x="0" y="0"/>
            <a:chExt cx="10732262" cy="1754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028" y="2917757"/>
            <a:ext cx="754971" cy="754971"/>
            <a:chOff x="0" y="0"/>
            <a:chExt cx="1006627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7714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  <a:endParaRPr lang="en-US" sz="2326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849017" y="2750847"/>
            <a:ext cx="5638450" cy="921881"/>
            <a:chOff x="0" y="0"/>
            <a:chExt cx="10732262" cy="175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041546" y="2834302"/>
            <a:ext cx="754971" cy="754970"/>
            <a:chOff x="0" y="0"/>
            <a:chExt cx="1006627" cy="10066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7714" y="2882608"/>
            <a:ext cx="912686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 dirty="0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9704" y="3063583"/>
            <a:ext cx="429800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Principais  trechos de códigos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7028" y="3788471"/>
            <a:ext cx="570249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40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Escolha do modo de jogo — MainMenu.cs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5479" y="4607579"/>
            <a:ext cx="5005321" cy="3411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public void </a:t>
            </a:r>
            <a:r>
              <a:rPr lang="en-US" sz="1416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IniciarDoisJogadores</a:t>
            </a: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()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{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</a:t>
            </a:r>
            <a:r>
              <a:rPr lang="en-US" sz="1416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Time.timeScale</a:t>
            </a: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= 1f;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endParaRPr lang="en-US" sz="1416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</a:t>
            </a:r>
            <a:r>
              <a:rPr lang="en-US" sz="1416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PlayerPrefs.SetInt</a:t>
            </a: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("</a:t>
            </a:r>
            <a:r>
              <a:rPr lang="en-US" sz="1416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GameMode</a:t>
            </a: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", 2);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</a:t>
            </a:r>
            <a:r>
              <a:rPr lang="en-US" sz="1416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PlayerPrefs.Save</a:t>
            </a: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();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endParaRPr lang="en-US" sz="1416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</a:t>
            </a:r>
            <a:r>
              <a:rPr lang="en-US" sz="1416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SceneManager.LoadScene</a:t>
            </a: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("Game");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sz="1416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}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endParaRPr lang="en-US" sz="1416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2419"/>
              </a:lnSpc>
              <a:spcBef>
                <a:spcPct val="0"/>
              </a:spcBef>
            </a:pP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trecho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faz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jogo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iniciar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no modo de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dois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jogadores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 O valor 2 é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usado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para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identificar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modo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escolhido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e o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LoadScene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abre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cena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principal do </a:t>
            </a:r>
            <a:r>
              <a:rPr lang="en-US" sz="2015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jogo</a:t>
            </a:r>
            <a:r>
              <a:rPr lang="en-US" sz="201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66421" y="3759896"/>
            <a:ext cx="7805845" cy="432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Separação dos tabuleiros — GridManager.cs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sz="1092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public const int larg = 10;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sz="1092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public const int alt = 20;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endParaRPr lang="en-US" sz="1092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sz="1092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private readonly Transform[,] grid =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sz="1092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new Transform[larg, alt];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endParaRPr lang="en-US" sz="1092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sz="1092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private int pontuacao;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endParaRPr lang="en-US" sz="1092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2645"/>
              </a:lnSpc>
              <a:spcBef>
                <a:spcPct val="0"/>
              </a:spcBef>
            </a:pPr>
            <a:r>
              <a:rPr lang="en-US" sz="220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Nesse código, a matriz grid representa o tabuleiro, que possui 10 colunas e 20 linhas. Ela guarda as posições ocupadas pelas peças, enquanto pontuacao armazena os pontos do jogador.</a:t>
            </a:r>
          </a:p>
          <a:p>
            <a:pPr algn="ctr">
              <a:lnSpc>
                <a:spcPts val="2645"/>
              </a:lnSpc>
              <a:spcBef>
                <a:spcPct val="0"/>
              </a:spcBef>
            </a:pPr>
            <a:r>
              <a:rPr lang="en-US" sz="220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Uma das mudanças importantes foi deixar essas informações separadas para cada jogador, evitando que os dois utilizassem o mesmo tabuleiro ou compartilhassem a pontuação.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386" y="2838015"/>
            <a:ext cx="5638450" cy="921881"/>
            <a:chOff x="0" y="0"/>
            <a:chExt cx="10732262" cy="1754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028" y="2917757"/>
            <a:ext cx="754971" cy="754971"/>
            <a:chOff x="0" y="0"/>
            <a:chExt cx="1006627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7714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849017" y="2750847"/>
            <a:ext cx="5638450" cy="921881"/>
            <a:chOff x="0" y="0"/>
            <a:chExt cx="10732262" cy="175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041546" y="2834302"/>
            <a:ext cx="754971" cy="754970"/>
            <a:chOff x="0" y="0"/>
            <a:chExt cx="1006627" cy="10066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7714" y="2882608"/>
            <a:ext cx="1141286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 dirty="0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9704" y="3063583"/>
            <a:ext cx="429800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Principais  trechos de códigos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2760" y="3855146"/>
            <a:ext cx="625509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401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Criação</a:t>
            </a:r>
            <a:r>
              <a:rPr lang="en-US" sz="2401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do </a:t>
            </a:r>
            <a:r>
              <a:rPr lang="en-US" sz="2401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segundo</a:t>
            </a:r>
            <a:r>
              <a:rPr lang="en-US" sz="2401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401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2401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- </a:t>
            </a:r>
            <a:r>
              <a:rPr lang="en-US" sz="2401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GridManager.cs</a:t>
            </a:r>
            <a:endParaRPr lang="en-US" sz="2401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24789" y="4607580"/>
            <a:ext cx="5036113" cy="4283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GameObject</a:t>
            </a: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objetoJogador2 =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new </a:t>
            </a:r>
            <a:r>
              <a:rPr lang="en-US" sz="1118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GameObject</a:t>
            </a: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("GridManager_Player2");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endParaRPr lang="en-US" sz="1118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</a:t>
            </a: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jogador2 =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objetoJogador2.AddComponent&lt;</a:t>
            </a:r>
            <a:r>
              <a:rPr lang="en-US" sz="1118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</a:t>
            </a: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&gt;();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endParaRPr lang="en-US" sz="1118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jogador2.playerNumber = 2;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jogador2.boardOffsetX = </a:t>
            </a:r>
            <a:r>
              <a:rPr lang="en-US" sz="1118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deslocamentoEntreTabuleiros</a:t>
            </a: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jogador2.pecasPrefabs = </a:t>
            </a:r>
            <a:r>
              <a:rPr lang="en-US" sz="1118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pecasPrefabs</a:t>
            </a: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sz="1118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jogador2.scoreText = placarJogador2;</a:t>
            </a:r>
          </a:p>
          <a:p>
            <a:pPr algn="ctr">
              <a:lnSpc>
                <a:spcPts val="1102"/>
              </a:lnSpc>
              <a:spcBef>
                <a:spcPct val="0"/>
              </a:spcBef>
            </a:pPr>
            <a:endParaRPr lang="en-US" sz="1118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código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cria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um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objeto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responsável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pelo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segundo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adiciona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script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ele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Depois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configura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número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do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a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posição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do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tabuleiro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as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peças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que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serão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utilizadas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o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placar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Assim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o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segundo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utiliza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mesma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lógica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principal do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jogo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mas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possui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suas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próprias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80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configurações</a:t>
            </a:r>
            <a:r>
              <a:rPr lang="en-US" sz="180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  <a:p>
            <a:pPr algn="ctr">
              <a:lnSpc>
                <a:spcPts val="1646"/>
              </a:lnSpc>
              <a:spcBef>
                <a:spcPct val="0"/>
              </a:spcBef>
            </a:pPr>
            <a:endParaRPr lang="en-US" sz="1803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44000" y="3759896"/>
            <a:ext cx="8754580" cy="473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8"/>
              </a:lnSpc>
              <a:spcBef>
                <a:spcPct val="0"/>
              </a:spcBef>
            </a:pPr>
            <a:r>
              <a:rPr lang="en-US" sz="2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Controles</a:t>
            </a:r>
            <a:r>
              <a:rPr lang="en-US" sz="2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cada</a:t>
            </a:r>
            <a:r>
              <a:rPr lang="en-US" sz="2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2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- </a:t>
            </a:r>
            <a:r>
              <a:rPr lang="en-US" sz="2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Piece.cs</a:t>
            </a:r>
            <a:endParaRPr lang="en-US" sz="2032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jogadorUnico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=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PlayerPrefs.GetInt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("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GameMode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", 1) != 2;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endParaRPr lang="en-US" sz="1032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jogador1 =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gridManager.PlayerNumber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== 1;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endParaRPr lang="en-US" sz="1032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esquerda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= jogador1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? 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Input.GetKeyDown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KeyCode.LeftArrow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|| 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jogadorUnico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&amp;&amp;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  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Input.GetKeyDown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KeyCode.A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)))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: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Input.GetKeyDown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KeyCode.A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endParaRPr lang="en-US" sz="1032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direita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= jogador1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? 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Input.GetKeyDown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KeyCode.RightArrow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|| 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jogadorUnico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&amp;&amp;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  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Input.GetKeyDown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KeyCode.D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)))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: 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Input.GetKeyDown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</a:t>
            </a:r>
            <a:r>
              <a:rPr lang="en-US" sz="1032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KeyCode.D</a:t>
            </a:r>
            <a:r>
              <a:rPr lang="en-US" sz="103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);</a:t>
            </a:r>
          </a:p>
          <a:p>
            <a:pPr algn="ctr">
              <a:lnSpc>
                <a:spcPts val="1123"/>
              </a:lnSpc>
              <a:spcBef>
                <a:spcPct val="0"/>
              </a:spcBef>
            </a:pPr>
            <a:endParaRPr lang="en-US" sz="1032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trecho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verifica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qual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está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controlando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peça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define as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teclas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que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ele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pode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usar. O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1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utiliza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as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setas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do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teclado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enquanto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2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utiliza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 e D para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movimentar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as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peças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para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lados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 A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mesma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ideia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é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aplicada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comandos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rotação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de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aceleração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da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queda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Essa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mudança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é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importante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porque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permite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que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dois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joguem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mesmo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tempo,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sem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precisarem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usar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mesmos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717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controles</a:t>
            </a:r>
            <a:r>
              <a:rPr lang="en-US" sz="171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  <a:p>
            <a:pPr algn="ctr">
              <a:lnSpc>
                <a:spcPts val="1031"/>
              </a:lnSpc>
              <a:spcBef>
                <a:spcPct val="0"/>
              </a:spcBef>
            </a:pPr>
            <a:endParaRPr lang="en-US" sz="1717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386" y="2838015"/>
            <a:ext cx="5638450" cy="921881"/>
            <a:chOff x="0" y="0"/>
            <a:chExt cx="10732262" cy="1754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028" y="2917757"/>
            <a:ext cx="754971" cy="754971"/>
            <a:chOff x="0" y="0"/>
            <a:chExt cx="1006627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2"/>
            </a:xfrm>
            <a:custGeom>
              <a:avLst/>
              <a:gdLst/>
              <a:ahLst/>
              <a:cxnLst/>
              <a:rect l="l" t="t" r="r" b="b"/>
              <a:pathLst>
                <a:path w="1006602" h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7714" y="3273895"/>
            <a:ext cx="61588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849017" y="2750847"/>
            <a:ext cx="5638450" cy="921881"/>
            <a:chOff x="0" y="0"/>
            <a:chExt cx="10732262" cy="175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32389" cy="1754739"/>
            </a:xfrm>
            <a:custGeom>
              <a:avLst/>
              <a:gdLst/>
              <a:ahLst/>
              <a:cxnLst/>
              <a:rect l="l" t="t" r="r" b="b"/>
              <a:pathLst>
                <a:path w="10732389" h="175473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041546" y="2834302"/>
            <a:ext cx="754971" cy="754970"/>
            <a:chOff x="0" y="0"/>
            <a:chExt cx="1006627" cy="10066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7714" y="2882608"/>
            <a:ext cx="1217486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 dirty="0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9704" y="3063583"/>
            <a:ext cx="429800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Principais  trechos de códigos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80297" y="3836917"/>
            <a:ext cx="55105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40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Definição do vencedor - GridManager.cs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5479" y="4020020"/>
            <a:ext cx="15091988" cy="446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 jogador2 = jogadores[1];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endParaRPr lang="en-US" sz="1243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if (pontuacao &gt; jogador2.pontuacao)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FinalizarPartida(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"JOGADOR 1 VENCEU PELOS PONTOS!",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"O tempo terminou.");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endParaRPr lang="en-US" sz="1243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else if (jogador2.pontuacao &gt; pontuacao)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FinalizarPartida(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"JOGADOR 2 VENCEU PELOS PONTOS!",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"O tempo terminou.");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endParaRPr lang="en-US" sz="1243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else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FinalizarPartida(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"EMPATE!",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sz="124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"O tempo terminou com a mesma pontuação.");</a:t>
            </a:r>
          </a:p>
          <a:p>
            <a:pPr algn="ctr">
              <a:lnSpc>
                <a:spcPts val="1265"/>
              </a:lnSpc>
              <a:spcBef>
                <a:spcPct val="0"/>
              </a:spcBef>
            </a:pPr>
            <a:endParaRPr lang="en-US" sz="1243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2489"/>
              </a:lnSpc>
              <a:spcBef>
                <a:spcPct val="0"/>
              </a:spcBef>
            </a:pPr>
            <a:r>
              <a:rPr lang="en-US" sz="207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 código compara os pontos dos dois jogadores quando o tempo acaba. Quem tiver mais pontos vence e, se os dois tiverem a mesma pontuação, ocorre um empate.</a:t>
            </a:r>
          </a:p>
          <a:p>
            <a:pPr algn="ctr">
              <a:lnSpc>
                <a:spcPts val="2489"/>
              </a:lnSpc>
              <a:spcBef>
                <a:spcPct val="0"/>
              </a:spcBef>
            </a:pPr>
            <a:r>
              <a:rPr lang="en-US" sz="207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Dessa forma, o jogo passa a ter uma regra para decidir o vencedor da partida.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  <a:endParaRPr lang="en-US" sz="2074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456817"/>
            <a:ext cx="8625473" cy="921881"/>
            <a:chOff x="0" y="0"/>
            <a:chExt cx="16417780" cy="1754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17906" cy="1754739"/>
            </a:xfrm>
            <a:custGeom>
              <a:avLst/>
              <a:gdLst/>
              <a:ahLst/>
              <a:cxnLst/>
              <a:rect l="l" t="t" r="r" b="b"/>
              <a:pathLst>
                <a:path w="16417906" h="1754739">
                  <a:moveTo>
                    <a:pt x="0" y="292510"/>
                  </a:moveTo>
                  <a:cubicBezTo>
                    <a:pt x="0" y="130899"/>
                    <a:pt x="236827" y="0"/>
                    <a:pt x="529217" y="0"/>
                  </a:cubicBezTo>
                  <a:lnTo>
                    <a:pt x="15888757" y="0"/>
                  </a:lnTo>
                  <a:cubicBezTo>
                    <a:pt x="16180953" y="0"/>
                    <a:pt x="16417906" y="130899"/>
                    <a:pt x="16417906" y="292510"/>
                  </a:cubicBezTo>
                  <a:lnTo>
                    <a:pt x="16417906" y="1462225"/>
                  </a:lnTo>
                  <a:cubicBezTo>
                    <a:pt x="16417906" y="1623729"/>
                    <a:pt x="16181147" y="1754739"/>
                    <a:pt x="15888757" y="1754739"/>
                  </a:cubicBezTo>
                  <a:lnTo>
                    <a:pt x="529217" y="1754739"/>
                  </a:lnTo>
                  <a:cubicBezTo>
                    <a:pt x="236827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990373"/>
            <a:chOff x="0" y="0"/>
            <a:chExt cx="24402453" cy="2653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653792"/>
            </a:xfrm>
            <a:custGeom>
              <a:avLst/>
              <a:gdLst/>
              <a:ahLst/>
              <a:cxnLst/>
              <a:rect l="l" t="t" r="r" b="b"/>
              <a:pathLst>
                <a:path w="24402414" h="2653792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90245"/>
            <a:ext cx="109814" cy="892235"/>
            <a:chOff x="0" y="0"/>
            <a:chExt cx="146418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431" cy="1189609"/>
            </a:xfrm>
            <a:custGeom>
              <a:avLst/>
              <a:gdLst/>
              <a:ahLst/>
              <a:cxnLst/>
              <a:rect l="l" t="t" r="r" b="b"/>
              <a:pathLst>
                <a:path w="146431" h="1189609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028" y="2540272"/>
            <a:ext cx="754971" cy="754970"/>
            <a:chOff x="0" y="0"/>
            <a:chExt cx="1006627" cy="10066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02" cy="1006601"/>
            </a:xfrm>
            <a:custGeom>
              <a:avLst/>
              <a:gdLst/>
              <a:ahLst/>
              <a:cxnLst/>
              <a:rect l="l" t="t" r="r" b="b"/>
              <a:pathLst>
                <a:path w="1006602" h="100660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2235" y="8441931"/>
            <a:ext cx="16499519" cy="1070686"/>
            <a:chOff x="0" y="0"/>
            <a:chExt cx="21999359" cy="14275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99448" cy="1427607"/>
            </a:xfrm>
            <a:custGeom>
              <a:avLst/>
              <a:gdLst/>
              <a:ahLst/>
              <a:cxnLst/>
              <a:rect l="l" t="t" r="r" b="b"/>
              <a:pathLst>
                <a:path w="21999448" h="1427607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9975446" y="3509835"/>
            <a:ext cx="6509093" cy="4622782"/>
          </a:xfrm>
          <a:custGeom>
            <a:avLst/>
            <a:gdLst/>
            <a:ahLst/>
            <a:cxnLst/>
            <a:rect l="l" t="t" r="r" b="b"/>
            <a:pathLst>
              <a:path w="6509093" h="4622782">
                <a:moveTo>
                  <a:pt x="0" y="0"/>
                </a:moveTo>
                <a:lnTo>
                  <a:pt x="6509093" y="0"/>
                </a:lnTo>
                <a:lnTo>
                  <a:pt x="6509093" y="4622782"/>
                </a:lnTo>
                <a:lnTo>
                  <a:pt x="0" y="4622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60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17028" y="526151"/>
            <a:ext cx="160146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Erros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4860" y="2736782"/>
            <a:ext cx="255924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Erros encontrados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509835"/>
            <a:ext cx="8625539" cy="3223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  <a:spcBef>
                <a:spcPct val="0"/>
              </a:spcBef>
            </a:pP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Durante o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desenvolvimento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foram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identificados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alguns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problemas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botão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dois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jogadores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não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estar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conectado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à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ação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correta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alguns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elementos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da interface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estarem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com a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escala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zerada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  <a:p>
            <a:pPr algn="ctr">
              <a:lnSpc>
                <a:spcPts val="2752"/>
              </a:lnSpc>
              <a:spcBef>
                <a:spcPct val="0"/>
              </a:spcBef>
            </a:pP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Tambem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tivemos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problema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adicionar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 script a um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objeto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vazio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um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problema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com a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implementação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do grid.</a:t>
            </a:r>
          </a:p>
          <a:p>
            <a:pPr algn="ctr">
              <a:lnSpc>
                <a:spcPts val="2752"/>
              </a:lnSpc>
              <a:spcBef>
                <a:spcPct val="0"/>
              </a:spcBef>
            </a:pP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 ChatGPT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ajudou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a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identificar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esses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problemas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sugeriu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como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corrigi-los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Também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auxiliou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nas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mudanças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necessárias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para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separar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tabuleiros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controles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cada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9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</a:t>
            </a:r>
            <a:r>
              <a:rPr lang="en-US" sz="229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1006</Words>
  <Application>Microsoft Office PowerPoint</Application>
  <PresentationFormat>Personalizar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Bold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slide_o_que_documentar.pptx</dc:title>
  <cp:lastModifiedBy>Matheus Rodrigues Cabrera</cp:lastModifiedBy>
  <cp:revision>2</cp:revision>
  <dcterms:created xsi:type="dcterms:W3CDTF">2006-08-16T00:00:00Z</dcterms:created>
  <dcterms:modified xsi:type="dcterms:W3CDTF">2026-10-19T10:52:02Z</dcterms:modified>
  <dc:identifier>DAHYY1YhNYk</dc:identifier>
</cp:coreProperties>
</file>